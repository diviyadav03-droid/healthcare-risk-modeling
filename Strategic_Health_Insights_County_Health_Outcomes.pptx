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Expectancy (yrs)</c:v>
                </c:pt>
              </c:strCache>
            </c:strRef>
          </c:tx>
          <c:spPr>
            <a:solidFill>
              <a:srgbClr val="D94F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DE-4257-8B27-8948A5F6B65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FDE-4257-8B27-8948A5F6B65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FDE-4257-8B27-8948A5F6B65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FDE-4257-8B27-8948A5F6B65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FDE-4257-8B27-8948A5F6B65A}"/>
              </c:ext>
            </c:extLst>
          </c:dPt>
          <c:dPt>
            <c:idx val="5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FDE-4257-8B27-8948A5F6B65A}"/>
              </c:ext>
            </c:extLst>
          </c:dPt>
          <c:dPt>
            <c:idx val="6"/>
            <c:invertIfNegative val="0"/>
            <c:bubble3D val="0"/>
            <c:spPr>
              <a:solidFill>
                <a:srgbClr val="2E9C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FDE-4257-8B27-8948A5F6B65A}"/>
              </c:ext>
            </c:extLst>
          </c:dPt>
          <c:dPt>
            <c:idx val="7"/>
            <c:invertIfNegative val="0"/>
            <c:bubble3D val="0"/>
            <c:spPr>
              <a:solidFill>
                <a:srgbClr val="2E9C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FDE-4257-8B27-8948A5F6B65A}"/>
              </c:ext>
            </c:extLst>
          </c:dPt>
          <c:dPt>
            <c:idx val="8"/>
            <c:invertIfNegative val="0"/>
            <c:bubble3D val="0"/>
            <c:spPr>
              <a:solidFill>
                <a:srgbClr val="2E9C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FDE-4257-8B27-8948A5F6B65A}"/>
              </c:ext>
            </c:extLst>
          </c:dPt>
          <c:dPt>
            <c:idx val="9"/>
            <c:invertIfNegative val="0"/>
            <c:bubble3D val="0"/>
            <c:spPr>
              <a:solidFill>
                <a:srgbClr val="2E9C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FDE-4257-8B27-8948A5F6B65A}"/>
              </c:ext>
            </c:extLst>
          </c:dPt>
          <c:dPt>
            <c:idx val="10"/>
            <c:invertIfNegative val="0"/>
            <c:bubble3D val="0"/>
            <c:spPr>
              <a:solidFill>
                <a:srgbClr val="2E9C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1FDE-4257-8B27-8948A5F6B6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MS</c:v>
                </c:pt>
                <c:pt idx="1">
                  <c:v>AL</c:v>
                </c:pt>
                <c:pt idx="2">
                  <c:v>KY</c:v>
                </c:pt>
                <c:pt idx="3">
                  <c:v>WV</c:v>
                </c:pt>
                <c:pt idx="4">
                  <c:v>AR</c:v>
                </c:pt>
                <c:pt idx="5">
                  <c:v>...</c:v>
                </c:pt>
                <c:pt idx="6">
                  <c:v>HI</c:v>
                </c:pt>
                <c:pt idx="7">
                  <c:v>MA</c:v>
                </c:pt>
                <c:pt idx="8">
                  <c:v>RI</c:v>
                </c:pt>
                <c:pt idx="9">
                  <c:v>CT</c:v>
                </c:pt>
                <c:pt idx="10">
                  <c:v>MN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71.599999999999994</c:v>
                </c:pt>
                <c:pt idx="1">
                  <c:v>72.599999999999994</c:v>
                </c:pt>
                <c:pt idx="2">
                  <c:v>72.8</c:v>
                </c:pt>
                <c:pt idx="3">
                  <c:v>73.2</c:v>
                </c:pt>
                <c:pt idx="4">
                  <c:v>73.099999999999994</c:v>
                </c:pt>
                <c:pt idx="5">
                  <c:v>0</c:v>
                </c:pt>
                <c:pt idx="6">
                  <c:v>81.7</c:v>
                </c:pt>
                <c:pt idx="7">
                  <c:v>79.8</c:v>
                </c:pt>
                <c:pt idx="8">
                  <c:v>79.8</c:v>
                </c:pt>
                <c:pt idx="9">
                  <c:v>79.400000000000006</c:v>
                </c:pt>
                <c:pt idx="10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1FDE-4257-8B27-8948A5F6B6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9E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Excessive Drinking</c:v>
                </c:pt>
                <c:pt idx="1">
                  <c:v>Food Insecurity</c:v>
                </c:pt>
                <c:pt idx="2">
                  <c:v>Some College (-)</c:v>
                </c:pt>
                <c:pt idx="3">
                  <c:v>Diabetes Prevalence</c:v>
                </c:pt>
                <c:pt idx="4">
                  <c:v>Physical Inactivity</c:v>
                </c:pt>
                <c:pt idx="5">
                  <c:v>Adult Smoking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</c:v>
                </c:pt>
                <c:pt idx="1">
                  <c:v>3.8</c:v>
                </c:pt>
                <c:pt idx="2">
                  <c:v>5.4</c:v>
                </c:pt>
                <c:pt idx="3">
                  <c:v>11.4</c:v>
                </c:pt>
                <c:pt idx="4">
                  <c:v>30.1</c:v>
                </c:pt>
                <c:pt idx="5">
                  <c:v>35.700000000000003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E9-4714-B3A7-3D8B7F495E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PCP Access</c:v>
                </c:pt>
              </c:strCache>
            </c:strRef>
          </c:tx>
          <c:spPr>
            <a:solidFill>
              <a:srgbClr val="D94F3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Q1
(Low Income)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
(High Income)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4.68</c:v>
                </c:pt>
                <c:pt idx="1">
                  <c:v>4.21</c:v>
                </c:pt>
                <c:pt idx="2">
                  <c:v>3.93</c:v>
                </c:pt>
                <c:pt idx="3">
                  <c:v>3.65</c:v>
                </c:pt>
                <c:pt idx="4">
                  <c:v>3.47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7D-4876-A9C5-5FAB300D9B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PCP Access</c:v>
                </c:pt>
              </c:strCache>
            </c:strRef>
          </c:tx>
          <c:spPr>
            <a:solidFill>
              <a:srgbClr val="2E9C6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Q1
(Low Income)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
(High Income)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4.55</c:v>
                </c:pt>
                <c:pt idx="1">
                  <c:v>4.0199999999999996</c:v>
                </c:pt>
                <c:pt idx="2">
                  <c:v>3.74</c:v>
                </c:pt>
                <c:pt idx="3">
                  <c:v>3.51</c:v>
                </c:pt>
                <c:pt idx="4">
                  <c:v>3.21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7D-4876-A9C5-5FAB300D9B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5"/>
          <c:min val="2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Life Expectancy</c:v>
                </c:pt>
              </c:strCache>
            </c:strRef>
          </c:tx>
          <c:spPr>
            <a:ln w="38100" cap="flat">
              <a:solidFill>
                <a:srgbClr val="0D9E9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E9E"/>
              </a:solidFill>
              <a:ln w="9525" cap="flat">
                <a:solidFill>
                  <a:srgbClr val="0D9E9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9E9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$37K</c:v>
                </c:pt>
                <c:pt idx="1">
                  <c:v>$48K</c:v>
                </c:pt>
                <c:pt idx="2">
                  <c:v>$58K</c:v>
                </c:pt>
                <c:pt idx="3">
                  <c:v>$68K</c:v>
                </c:pt>
                <c:pt idx="4">
                  <c:v>$80K</c:v>
                </c:pt>
                <c:pt idx="5">
                  <c:v>$92K</c:v>
                </c:pt>
                <c:pt idx="6">
                  <c:v>$102K</c:v>
                </c:pt>
                <c:pt idx="7">
                  <c:v>$116K</c:v>
                </c:pt>
                <c:pt idx="8">
                  <c:v>$130K+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69.7</c:v>
                </c:pt>
                <c:pt idx="1">
                  <c:v>72.8</c:v>
                </c:pt>
                <c:pt idx="2">
                  <c:v>75.3</c:v>
                </c:pt>
                <c:pt idx="3">
                  <c:v>77.3</c:v>
                </c:pt>
                <c:pt idx="4">
                  <c:v>78.5</c:v>
                </c:pt>
                <c:pt idx="5">
                  <c:v>79.8</c:v>
                </c:pt>
                <c:pt idx="6">
                  <c:v>80.5</c:v>
                </c:pt>
                <c:pt idx="7">
                  <c:v>80.8</c:v>
                </c:pt>
                <c:pt idx="8">
                  <c:v>82.1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8D6-43F8-8FD7-E01AE90734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6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Counties</c:v>
                </c:pt>
              </c:strCache>
            </c:strRef>
          </c:tx>
          <c:spPr>
            <a:solidFill>
              <a:srgbClr val="D94F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AL</c:v>
                </c:pt>
                <c:pt idx="1">
                  <c:v>WV</c:v>
                </c:pt>
                <c:pt idx="2">
                  <c:v>OK</c:v>
                </c:pt>
                <c:pt idx="3">
                  <c:v>MS</c:v>
                </c:pt>
                <c:pt idx="4">
                  <c:v>TN</c:v>
                </c:pt>
                <c:pt idx="5">
                  <c:v>AR</c:v>
                </c:pt>
                <c:pt idx="6">
                  <c:v>TX</c:v>
                </c:pt>
                <c:pt idx="7">
                  <c:v>KY</c:v>
                </c:pt>
                <c:pt idx="8">
                  <c:v>GA</c:v>
                </c:pt>
                <c:pt idx="9">
                  <c:v>MO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</c:v>
                </c:pt>
                <c:pt idx="1">
                  <c:v>15</c:v>
                </c:pt>
                <c:pt idx="2">
                  <c:v>15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29</c:v>
                </c:pt>
                <c:pt idx="8">
                  <c:v>29</c:v>
                </c:pt>
                <c:pt idx="9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50-459A-88AF-7A842BD755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Counties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</c:v>
                </c:pt>
                <c:pt idx="1">
                  <c:v>VA</c:v>
                </c:pt>
                <c:pt idx="2">
                  <c:v>MO</c:v>
                </c:pt>
                <c:pt idx="3">
                  <c:v>AR</c:v>
                </c:pt>
                <c:pt idx="4">
                  <c:v>WV</c:v>
                </c:pt>
                <c:pt idx="5">
                  <c:v>TN</c:v>
                </c:pt>
                <c:pt idx="6">
                  <c:v>AL</c:v>
                </c:pt>
                <c:pt idx="7">
                  <c:v>TX</c:v>
                </c:pt>
                <c:pt idx="8">
                  <c:v>GA</c:v>
                </c:pt>
                <c:pt idx="9">
                  <c:v>KY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16</c:v>
                </c:pt>
                <c:pt idx="4">
                  <c:v>18</c:v>
                </c:pt>
                <c:pt idx="5">
                  <c:v>22</c:v>
                </c:pt>
                <c:pt idx="6">
                  <c:v>23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73-47D6-8D1F-9831F6641A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48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HEALTH INSIGHTS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County-Level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Telehealth Entry Strategy &amp; Community Consulting Opportunities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4681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GetBetterHealth.com  |  MBA 551 Group Project  |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48640" cy="667512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548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79552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 Landscape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064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of life expectancy, physical &amp; mental health across 3,143 counties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45336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545336"/>
            <a:ext cx="548640" cy="667512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45336"/>
            <a:ext cx="548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59105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Gap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9019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insurance coverage and provider availability shape outcomes, even controlling for income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340864"/>
            <a:ext cx="548640" cy="667512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340864"/>
            <a:ext cx="548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38658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Opportunity 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6974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477 priority counties for physical &amp; mental telehealth services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136392"/>
            <a:ext cx="548640" cy="667512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136392"/>
            <a:ext cx="548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18211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Focus Framework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4930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county archetypes, 79% of high-burden counties concentrated in the South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548640" cy="667512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931920"/>
            <a:ext cx="5486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9776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2885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entry priorities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Health Outcome Landscape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0574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59536"/>
            <a:ext cx="205740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3,143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415491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Counties Analyzed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749808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23160" y="749808"/>
            <a:ext cx="2057400" cy="54864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859536"/>
            <a:ext cx="205740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 yrs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415491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Life Expectancy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749808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749808"/>
            <a:ext cx="2057400" cy="54864"/>
          </a:xfrm>
          <a:prstGeom prst="rect">
            <a:avLst/>
          </a:prstGeom>
          <a:solidFill>
            <a:srgbClr val="D94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859536"/>
            <a:ext cx="205740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days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9160" y="1415491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Poor Physical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Days/Month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749808"/>
            <a:ext cx="2057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12280" y="749808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859536"/>
            <a:ext cx="205740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days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03720" y="1415491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Poor Mental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Days/Month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103120"/>
            <a:ext cx="5394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1762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by State — Worst vs. Best</a:t>
            </a:r>
            <a:endParaRPr lang="en-US" sz="11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74320" y="2450592"/>
          <a:ext cx="530352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5852160" y="2103120"/>
            <a:ext cx="3063240" cy="2697480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0" y="21762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0" y="24871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gap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life expectancy separates best from worst states.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943600" y="321868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larger than the mortality impact of most chronic diseases, and it's driven by measurable, addressable factors.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52160" y="4330036"/>
            <a:ext cx="3063240" cy="40690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43600" y="4336542"/>
            <a:ext cx="2880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The gap is preventable, not inevitable.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28600" y="4736592"/>
            <a:ext cx="8686800" cy="292608"/>
          </a:xfrm>
          <a:prstGeom prst="rect">
            <a:avLst/>
          </a:prstGeom>
          <a:solidFill>
            <a:srgbClr val="E0F4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65760" y="474573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County Health Rankings 2024 (n=3,143 counties). Outcomes: Life Expectancy, Poor Physical Health Days, Poor Mental Health Days.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What Drives Health Outcomes?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0" y="658368"/>
            <a:ext cx="233172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65836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 |  R² = 0.81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of Poor Physical Health Days across 3,143 counties: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5029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Score (%)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56032" y="1444752"/>
          <a:ext cx="4983480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440680" y="1115568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32120" y="1188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Days, Key Drivers (R²=0.57)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32120" y="1600200"/>
            <a:ext cx="475488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32120" y="16002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99048" y="161848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Smoking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99048" y="183794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&amp; socioeconomic overlap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32120" y="2258568"/>
            <a:ext cx="475488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32120" y="2258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99048" y="22768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Insecurity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99048" y="249631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stress from access gaps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32120" y="2916936"/>
            <a:ext cx="475488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32120" y="29169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99048" y="29352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Sleep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99048" y="315468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link with mental illness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40680" y="3456432"/>
            <a:ext cx="3474720" cy="1179576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532120" y="351129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for GBH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32120" y="3749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&amp; socioeconomic variables explain a majority of health outcome variation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32120" y="4023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 plays a role, but is secondary to root causes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532120" y="4261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alone is not enough, must combine with behavioral &amp; economic interventions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28600" y="4736592"/>
            <a:ext cx="8686800" cy="292608"/>
          </a:xfrm>
          <a:prstGeom prst="rect">
            <a:avLst/>
          </a:prstGeom>
          <a:solidFill>
            <a:srgbClr val="E0F4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65760" y="474573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Random Forest Regressor (sklearn), 5-fold CV. Variables ranked by Gini importance. Physical health model R²=0.81 (test R²=0.89); mental health R²=0.57.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The Access Gap — Does It Matter Beyond Income?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8328" y="749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" y="10698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PCP Access:  76.6 yrs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PCP Access:   74.8 yrs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1078992" cy="822960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 yrs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68580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8888" y="7498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Physical Health Days/Mo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8888" y="10698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PCP Access:  3.70 days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PCP Access:   4.11 days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1005840"/>
            <a:ext cx="1078992" cy="822960"/>
          </a:xfrm>
          <a:prstGeom prst="rect">
            <a:avLst/>
          </a:prstGeom>
          <a:solidFill>
            <a:srgbClr val="2E9C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0" y="100584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−0.41 days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" y="2395728"/>
            <a:ext cx="5120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4688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Physical Health Days by Income Level &amp; PCP Access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571" y="276148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gap persists at every income level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1888533226"/>
              </p:ext>
            </p:extLst>
          </p:nvPr>
        </p:nvGraphicFramePr>
        <p:xfrm>
          <a:off x="256032" y="2946980"/>
          <a:ext cx="5029200" cy="1810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5532120" y="2395728"/>
            <a:ext cx="3383280" cy="2514600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50992" y="24871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Gaps at a Glance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50992" y="28163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years</a:t>
            </a:r>
            <a:r>
              <a:rPr lang="en-US" sz="1100" dirty="0">
                <a:solidFill>
                  <a:srgbClr val="C8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life expectancy
lost in low-access counties
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669280" y="3513909"/>
            <a:ext cx="3108960" cy="566928"/>
          </a:xfrm>
          <a:prstGeom prst="rect">
            <a:avLst/>
          </a:prstGeom>
          <a:solidFill>
            <a:srgbClr val="0A7C7C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54189" y="355701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controlling for socioeconomic variables, PCP access remains a significant independent predictor of health outcomes.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62749" y="4178808"/>
            <a:ext cx="3108960" cy="47548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754189" y="420624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necessary, but not sufficient. Its impact is smaller than behavioral and socioeconomic drivers.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28600" y="4736592"/>
            <a:ext cx="8686800" cy="292608"/>
          </a:xfrm>
          <a:prstGeom prst="rect">
            <a:avLst/>
          </a:prstGeom>
          <a:solidFill>
            <a:srgbClr val="E0F4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5760" y="474573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effect is not explained away by income, the grouped chart shows the PCP gap persists across all five income quintiles.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Income &amp; Life Expectancy — The Data Story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 point represents the average life expectancy for counties at a given income level (n=3,070 counties):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55778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 vs. Life Expectancy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(County averages, binned by income group)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1554480"/>
          <a:ext cx="5486400" cy="3172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024128"/>
            <a:ext cx="2926080" cy="1371600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Relationship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1389888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explains 50% of life expectancy variance across counties.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2487168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80760" y="2560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income isn't destiny.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288036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with similar incomes show up to 8 years of variation in life expectancy, driven by behavioral and access factors GBH can influence.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3813048"/>
            <a:ext cx="292608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3886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for GBH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consulting + telehealth = dual levers on the two biggest drivers of life expectancy.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28600" y="4736592"/>
            <a:ext cx="8686800" cy="356616"/>
          </a:xfrm>
          <a:prstGeom prst="rect">
            <a:avLst/>
          </a:prstGeom>
          <a:solidFill>
            <a:srgbClr val="E0F4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474573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(income vs. LE): r=0.71. Income explains 50% of variance. Remaining 50% driven by behavioral factors and access — the exact space GBH operates in.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Telehealth Opportunity - 477 Priority Counties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31546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3154680" cy="54864"/>
          </a:xfrm>
          <a:prstGeom prst="rect">
            <a:avLst/>
          </a:prstGeom>
          <a:solidFill>
            <a:srgbClr val="D94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3154680" cy="580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 Counties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337950"/>
            <a:ext cx="2971800" cy="446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Telehealth Priority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+ Low PCP + High Physical Burden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47872" y="713232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47872" y="713232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47872" y="822960"/>
            <a:ext cx="2743200" cy="580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Counties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39312" y="1337950"/>
            <a:ext cx="2560320" cy="446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Telehealth Priority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+ Low MHP + High MH Burden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713232"/>
            <a:ext cx="24231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92240" y="713232"/>
            <a:ext cx="2423160" cy="54864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822960"/>
            <a:ext cx="2423160" cy="580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83680" y="1337950"/>
            <a:ext cx="2240280" cy="446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High-Burden Counties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 Southern States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96596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03911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Telehealth: Top Target States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256032" y="2313432"/>
          <a:ext cx="42062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4663440" y="196596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54880" y="203911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Telehealth: Top Target States</a:t>
            </a:r>
            <a:endParaRPr lang="en-US" sz="11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4690872" y="2313432"/>
          <a:ext cx="42062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8"/>
          <p:cNvSpPr/>
          <p:nvPr/>
        </p:nvSpPr>
        <p:spPr>
          <a:xfrm>
            <a:off x="228600" y="4736592"/>
            <a:ext cx="8686800" cy="338328"/>
          </a:xfrm>
          <a:prstGeom prst="rect">
            <a:avLst/>
          </a:prstGeom>
          <a:solidFill>
            <a:srgbClr val="E0F4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65760" y="4745736"/>
            <a:ext cx="8412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477 counties represent the highest ROI entry point for GBH's telehealth expansion, where access gaps AND health burden overlap, not just rural geography.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Four County Archetypes - Consulting Targeting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 analysis of 3,000+ counties on 11 health variables reveals four distinct profiles: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457200" cy="1627632"/>
          </a:xfrm>
          <a:prstGeom prst="rect">
            <a:avLst/>
          </a:prstGeom>
          <a:solidFill>
            <a:srgbClr val="2E9C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078992"/>
            <a:ext cx="457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1521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4264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 counties  •  LE: 79.1 yrs  •  CO, VA, CA, MN, WA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14.4%, poverty 11.6%, income $82,975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975104"/>
            <a:ext cx="3566160" cy="548640"/>
          </a:xfrm>
          <a:prstGeom prst="rect">
            <a:avLst/>
          </a:prstGeom>
          <a:solidFill>
            <a:srgbClr val="2E9C6E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9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GBH: Preventive wellness &amp; benchmarking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78992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1078992"/>
            <a:ext cx="457200" cy="1627632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078992"/>
            <a:ext cx="457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11521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Moderate: Rural Midwest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14264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719 counties  •  LE: 77.5 yrs  •  IA, MN, WI, NE, 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1645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17.6%, poverty 13.9%, income $69,405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1975104"/>
            <a:ext cx="3566160" cy="548640"/>
          </a:xfrm>
          <a:prstGeom prst="rect">
            <a:avLst/>
          </a:prstGeom>
          <a:solidFill>
            <a:srgbClr val="0A7C7C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49240" y="201168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GBH: Telehealth access + chronic disease prevention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88036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457200" cy="1627632"/>
          </a:xfrm>
          <a:prstGeom prst="rect">
            <a:avLst/>
          </a:prstGeom>
          <a:solidFill>
            <a:srgbClr val="D94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2880360"/>
            <a:ext cx="457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2953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Burden: Deep South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32278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559 counties  •  LE: 72.1 yrs  •  TX, MS, GA, KY, 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447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23.9%, poverty 30.5%, income $46,763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3776472"/>
            <a:ext cx="3566160" cy="548640"/>
          </a:xfrm>
          <a:prstGeom prst="rect">
            <a:avLst/>
          </a:prstGeom>
          <a:solidFill>
            <a:srgbClr val="D94F3D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" y="381304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GBH: Economic dev + chronic disease management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88036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880360"/>
            <a:ext cx="457200" cy="1627632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2880360"/>
            <a:ext cx="4572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2953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Burden: Diverse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32278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955 counties  •  LE: 74.7 yrs  •  TX, MI, NC, IL, 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3447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19.9%, poverty 20.8%, income $58,070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57800" y="3776472"/>
            <a:ext cx="3566160" cy="54864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49240" y="381304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GBH: Behavioral health + workforce programs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4736592"/>
            <a:ext cx="8686800" cy="292608"/>
          </a:xfrm>
          <a:prstGeom prst="rect">
            <a:avLst/>
          </a:prstGeom>
          <a:solidFill>
            <a:srgbClr val="E0F4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74573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 = highest ROI consulting opportunity: 559 counties, LE gap of 7 years vs. Cluster A, concentrated in accessible Southern geography.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Consulting Framework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Four Root Cause Pillars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focus areas for GBH's consulting arm, each pillar tied directly to model drivers: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42416"/>
            <a:ext cx="2029968" cy="621792"/>
          </a:xfrm>
          <a:prstGeom prst="rect">
            <a:avLst/>
          </a:prstGeom>
          <a:solidFill>
            <a:srgbClr val="D94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Behavioral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73736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737360"/>
            <a:ext cx="2029968" cy="219456"/>
          </a:xfrm>
          <a:prstGeom prst="rect">
            <a:avLst/>
          </a:prstGeom>
          <a:solidFill>
            <a:srgbClr val="EEF7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175564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(35.7% model weight)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 (30.1%)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sleep (8.7%)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310896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3108960"/>
            <a:ext cx="2029968" cy="21945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312724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GBH SOLUTION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3364992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cessation, community wellness, corporate health partnerships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4480560"/>
            <a:ext cx="2029968" cy="329184"/>
          </a:xfrm>
          <a:prstGeom prst="rect">
            <a:avLst/>
          </a:prstGeom>
          <a:solidFill>
            <a:srgbClr val="D94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448056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35.7% of physical health variance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23160" y="1042416"/>
            <a:ext cx="2029968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107899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Economic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23160" y="173736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23160" y="1737360"/>
            <a:ext cx="2029968" cy="219456"/>
          </a:xfrm>
          <a:prstGeom prst="rect">
            <a:avLst/>
          </a:prstGeom>
          <a:solidFill>
            <a:srgbClr val="EEF7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23160" y="175564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14600" y="19842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poverty (r=−0.75 with 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insecurity (14.2% mental weight)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inequality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23160" y="310896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23160" y="3108960"/>
            <a:ext cx="2029968" cy="21945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23160" y="312724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GBH SOLUTION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14600" y="3364992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access partnerships, workforce development, economic mobility programs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4480560"/>
            <a:ext cx="2029968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23160" y="448056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−0.73 with Life Expectancy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1042416"/>
            <a:ext cx="2029968" cy="621792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17720" y="107899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Healthcare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17720" y="173736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1737360"/>
            <a:ext cx="2029968" cy="219456"/>
          </a:xfrm>
          <a:prstGeom prst="rect">
            <a:avLst/>
          </a:prstGeom>
          <a:solidFill>
            <a:srgbClr val="EEF7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175564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09160" y="19842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Uninsured rate (#1 access driver)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deserts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hospitalizations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10896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17720" y="3108960"/>
            <a:ext cx="2029968" cy="21945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17720" y="312724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GBH SOLUTION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09160" y="3364992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enrollment drives, telehealth deployment, care navigation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4480560"/>
            <a:ext cx="2029968" cy="329184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17720" y="448056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1.8-year life expectancy gap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12280" y="1042416"/>
            <a:ext cx="2029968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12280" y="107899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Education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12280" y="173736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12280" y="1737360"/>
            <a:ext cx="2029968" cy="219456"/>
          </a:xfrm>
          <a:prstGeom prst="rect">
            <a:avLst/>
          </a:prstGeom>
          <a:solidFill>
            <a:srgbClr val="EEF7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12280" y="175564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03720" y="198424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attainment (r=−0.73)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completion (r=−0.69)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youth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12280" y="3108960"/>
            <a:ext cx="202996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12280" y="3108960"/>
            <a:ext cx="2029968" cy="21945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12280" y="312724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GBH SOLUTION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03720" y="3364992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 programs, community college partnerships, youth interventions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12280" y="4480560"/>
            <a:ext cx="2029968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12280" y="448056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−0.73 with health days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|  Methodology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74980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Health Rankings &amp; Roadmaps 2024, University of Wisconsin Population Health Institute  |  n = 3,143 U.S. counties  |  88 variables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024128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(v147), Poor Physical Health Days (v036), Poor Mental Health Days (v042)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28346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2834640" cy="475488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44475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" y="1956816"/>
            <a:ext cx="261518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computed for 20+ predictors against each outcome variable. Used to identify the strongest individual-variable relationships and screen for multicollinearity.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4114800"/>
            <a:ext cx="2615184" cy="457200"/>
          </a:xfrm>
          <a:prstGeom prst="rect">
            <a:avLst/>
          </a:prstGeom>
          <a:solidFill>
            <a:srgbClr val="0A7C7C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" y="41513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Smoking, inactivity, poverty among top correlates (|r| &gt; 0.70)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18688" y="1417320"/>
            <a:ext cx="28346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1417320"/>
            <a:ext cx="283464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44475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28416" y="1956816"/>
            <a:ext cx="261518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 (sklearn, 100 trees) trained on 20 predictor variables. 5-fold cross-validation used to estimate out-of-sample R². Feature importances from mean Gini decrease.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28416" y="4114800"/>
            <a:ext cx="2615184" cy="457200"/>
          </a:xfrm>
          <a:prstGeom prst="rect">
            <a:avLst/>
          </a:prstGeom>
          <a:solidFill>
            <a:srgbClr val="0D2137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41513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Physical health R²=0.81 (CV) / 0.89 (test) | Mental health R²=0.57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08776" y="1417320"/>
            <a:ext cx="28346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08776" y="1417320"/>
            <a:ext cx="283464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0216" y="144475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18504" y="1956816"/>
            <a:ext cx="261518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(k=4, 10 random starts) applied to 11 standardized health and socioeconomic variables. Cluster count selected by visual elbow inspection and interpretability.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18504" y="4114800"/>
            <a:ext cx="2615184" cy="457200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73368" y="41513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 archetypes explaining county-level health variation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736592"/>
            <a:ext cx="8686800" cy="301752"/>
          </a:xfrm>
          <a:prstGeom prst="rect">
            <a:avLst/>
          </a:prstGeom>
          <a:solidFill>
            <a:srgbClr val="E0F4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72744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in Python (pandas, scikit-learn). Note: Results reflect associations from observational county-level data, not causal relationships. Findings are directionally robust across methods.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Strategic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20624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4206240" cy="256032"/>
          </a:xfrm>
          <a:prstGeom prst="rect">
            <a:avLst/>
          </a:prstGeom>
          <a:solidFill>
            <a:srgbClr val="D94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406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- PHYSICAL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the Southern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desert corridor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36192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MO, GA, KY, TX, AR, TN - 265 priority counties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chronic disease mgmt (diabetes, obesity, smoking)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county health depts for trust &amp; reach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13232"/>
            <a:ext cx="420624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713232"/>
            <a:ext cx="42062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7406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- MENTAL HEALTH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1024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MH platform across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Appalachian &amp; Gulf states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536192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KY, GA, TX, AL, TN, WV - 212 counties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smoking/food insecurity co-morbidities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async/text services for rural broadband gaps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724912"/>
            <a:ext cx="420624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724912"/>
            <a:ext cx="4206240" cy="256032"/>
          </a:xfrm>
          <a:prstGeom prst="rect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7523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- NEAR TERM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0358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practice around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 &amp; D first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547872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counties, highest burden, strongest ROI signal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behavioral health &amp; chronic disease programs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South (Cluster C) = 7-year LE gap vs. top counties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724912"/>
            <a:ext cx="420624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724912"/>
            <a:ext cx="420624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75234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- POSITIONING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0358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methodology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547872"/>
            <a:ext cx="4023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4-pillar framework as proprietary IP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county cluster profiles in sales engagements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health officials, hospital networks, state agencies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4656406"/>
            <a:ext cx="8686800" cy="372794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705643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inequity is concentrated, predictable, and addressable, 79% of high-burden counties are in the South. GBH can lead with data and win with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524974"/>
            <a:ext cx="9144000" cy="618526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B0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Clear.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3,143 counties. 79% burden concentrated in the South. Four evidence-backed levers.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" y="2244852"/>
            <a:ext cx="146304" cy="146304"/>
          </a:xfrm>
          <a:prstGeom prst="ellipse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&amp; socioeconomic factors explain a majority of health outcome variation  </a:t>
            </a:r>
            <a:r>
              <a:rPr lang="en-US" sz="1200" dirty="0">
                <a:solidFill>
                  <a:srgbClr val="C8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Smoking cessation &amp; physical activity programs are the highest-leverage consulting entry 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2852928"/>
            <a:ext cx="146304" cy="146304"/>
          </a:xfrm>
          <a:prstGeom prst="ellipse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6090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matters beyond income  </a:t>
            </a:r>
            <a:r>
              <a:rPr lang="en-US" sz="1200" dirty="0">
                <a:solidFill>
                  <a:srgbClr val="C8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PCP gap accounts for 1.8 life years even after controlling for socioeconomics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17966"/>
            <a:ext cx="146304" cy="146304"/>
          </a:xfrm>
          <a:prstGeom prst="ellipse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1638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477 counties need telehealth now  </a:t>
            </a:r>
            <a:r>
              <a:rPr lang="en-US" sz="1200" dirty="0">
                <a:solidFill>
                  <a:srgbClr val="C8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Concentrated in MO, GA, KY, TX, AR, TN, WV - Southern launch is the clear first move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" y="3813048"/>
            <a:ext cx="146304" cy="146304"/>
          </a:xfrm>
          <a:prstGeom prst="ellipse">
            <a:avLst/>
          </a:prstGeom>
          <a:solidFill>
            <a:srgbClr val="0A7C7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66674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 framework = defensible IP  </a:t>
            </a:r>
            <a:r>
              <a:rPr lang="en-US" sz="1200" dirty="0">
                <a:solidFill>
                  <a:srgbClr val="C8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Behavioral, Economic, Access, Education, tied to model output, not just intuition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GetBetterHealth.com  |  MBA 551  |  County Health Rankings 2024  |  n=3,143 counties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562856"/>
            <a:ext cx="8412480" cy="565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not just to expand access, but to systematically improve health outcomes at scale.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</TotalTime>
  <Words>1686</Words>
  <Application>Microsoft Office PowerPoint</Application>
  <PresentationFormat>On-screen Show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GetBetterHealth.com Strategic Analysis</dc:title>
  <dc:subject>PptxGenJS Presentation</dc:subject>
  <dc:creator>PptxGenJS</dc:creator>
  <cp:lastModifiedBy>Divya Yadav</cp:lastModifiedBy>
  <cp:revision>6</cp:revision>
  <dcterms:created xsi:type="dcterms:W3CDTF">2026-04-17T01:46:13Z</dcterms:created>
  <dcterms:modified xsi:type="dcterms:W3CDTF">2026-05-01T08:13:32Z</dcterms:modified>
</cp:coreProperties>
</file>